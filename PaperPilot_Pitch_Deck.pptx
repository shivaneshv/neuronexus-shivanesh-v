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SOCF 2.0 GRAND FINALE  •  AGENTIC AI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1F5F9"/>
                </a:solidFill>
                <a:latin typeface="Arial"/>
              </a:defRPr>
            </a:pPr>
            <a:r>
              <a:t>PaperPilot ✈️</a:t>
            </a:r>
          </a:p>
          <a:p>
            <a:pPr>
              <a:spcBef>
                <a:spcPts val="1000"/>
              </a:spcBef>
              <a:defRPr sz="2000">
                <a:solidFill>
                  <a:srgbClr val="8B5CF6"/>
                </a:solidFill>
                <a:latin typeface="Arial"/>
              </a:defRPr>
            </a:pPr>
            <a:r>
              <a:t>Autonomous Research Briefing &amp; Pedagogy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Arial"/>
              </a:defRPr>
            </a:pPr>
            <a:r>
              <a:t>Team: Neuro Nexus  •  Team Lead: Shivanesh V  •  Agentic AI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The Current Academic AI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8B5CF6"/>
                </a:solidFill>
              </a:defRPr>
            </a:pPr>
            <a:r>
              <a:t>1. Multi-Agent Bloat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Traditional research frameworks perform 10+ separate LLM calls to build briefs, flashcards, and maps. This causes massive API token burn and excessive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8B5CF6"/>
                </a:solidFill>
              </a:defRPr>
            </a:pPr>
            <a:r>
              <a:t>2. Untrusted Hallucinations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Most RAG search tools lack direct connection between generated briefs and original PDF locations. Users cannot quickly cross-check or verify output 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8B5CF6"/>
                </a:solidFill>
              </a:defRPr>
            </a:pPr>
            <a:r>
              <a:t>3. Accessibility Barriers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Complex academic concepts are gatekept by dense terminology and English-only outputs. Translating via standard cloud translation APIs incurs massive subscription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TIER 1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Maxing the Rubric: Architecture &amp;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2103120"/>
          </a:xfrm>
          <a:prstGeom prst="rect">
            <a:avLst/>
          </a:prstGeom>
          <a:solidFill>
            <a:srgbClr val="141B2D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b="1" sz="1400">
                <a:solidFill>
                  <a:srgbClr val="8B5CF6"/>
                </a:solidFill>
              </a:defRPr>
            </a:pPr>
            <a:r>
              <a:t>Local Ingestion Pipeline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</a:defRPr>
            </a:pPr>
            <a:r>
              <a:t>Chunks text page-by-page and computes sentence embeddings using local model (all-MiniLM-L6-v2) stored in ChromaDB.</a:t>
            </a:r>
          </a:p>
          <a:p>
            <a:pPr>
              <a:spcBef>
                <a:spcPts val="800"/>
              </a:spcBef>
              <a:defRPr b="1" sz="1000">
                <a:solidFill>
                  <a:srgbClr val="10B981"/>
                </a:solidFill>
              </a:defRPr>
            </a:pPr>
            <a:r>
              <a:t>⚡ 0 API calls during ingestion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120640" cy="2103120"/>
          </a:xfrm>
          <a:prstGeom prst="rect">
            <a:avLst/>
          </a:prstGeom>
          <a:solidFill>
            <a:srgbClr val="141B2D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b="1" sz="1400">
                <a:solidFill>
                  <a:srgbClr val="8B5CF6"/>
                </a:solidFill>
              </a:defRPr>
            </a:pPr>
            <a:r>
              <a:t>Single-Pass JSON Synthesis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</a:defRPr>
            </a:pPr>
            <a:r>
              <a:t>Fetches Brief, Flashcards, Concept Map, Skeptic Critiques, and Podcast script in exactly one API call.</a:t>
            </a:r>
          </a:p>
          <a:p>
            <a:pPr>
              <a:spcBef>
                <a:spcPts val="800"/>
              </a:spcBef>
              <a:defRPr b="1" sz="1000">
                <a:solidFill>
                  <a:srgbClr val="10B981"/>
                </a:solidFill>
              </a:defRPr>
            </a:pPr>
            <a:r>
              <a:t>⚡ Reduces LLM API usage by &gt;70%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5120640" cy="2103120"/>
          </a:xfrm>
          <a:prstGeom prst="rect">
            <a:avLst/>
          </a:prstGeom>
          <a:solidFill>
            <a:srgbClr val="141B2D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b="1" sz="1400">
                <a:solidFill>
                  <a:srgbClr val="8B5CF6"/>
                </a:solidFill>
              </a:defRPr>
            </a:pPr>
            <a:r>
              <a:t>SQLite Semantic Cache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</a:defRPr>
            </a:pPr>
            <a:r>
              <a:t>Hashes PDF files and caching queries; repeats load instantly from database with zero backend operations.</a:t>
            </a:r>
          </a:p>
          <a:p>
            <a:pPr>
              <a:spcBef>
                <a:spcPts val="800"/>
              </a:spcBef>
              <a:defRPr b="1" sz="1000">
                <a:solidFill>
                  <a:srgbClr val="10B981"/>
                </a:solidFill>
              </a:defRPr>
            </a:pPr>
            <a:r>
              <a:t>⚡ 0 API calls on Cache Hits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114800"/>
            <a:ext cx="5120640" cy="2103120"/>
          </a:xfrm>
          <a:prstGeom prst="rect">
            <a:avLst/>
          </a:prstGeom>
          <a:solidFill>
            <a:srgbClr val="141B2D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b="1" sz="1400">
                <a:solidFill>
                  <a:srgbClr val="8B5CF6"/>
                </a:solidFill>
              </a:defRPr>
            </a:pPr>
            <a:r>
              <a:t>Live 'RAG Efficiency Hub'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</a:defRPr>
            </a:pPr>
            <a:r>
              <a:t>A glassmorphism widgets displaying live counters for API Calls, Tokens, Cache hits, and Saved Dollars.</a:t>
            </a:r>
          </a:p>
          <a:p>
            <a:pPr>
              <a:spcBef>
                <a:spcPts val="800"/>
              </a:spcBef>
              <a:defRPr b="1" sz="1000">
                <a:solidFill>
                  <a:srgbClr val="10B981"/>
                </a:solidFill>
              </a:defRPr>
            </a:pPr>
            <a:r>
              <a:t>⚡ Proves efficiency on-screen to judges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TIER 2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Judge Eye-Candy: Immersive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2103120"/>
          </a:xfrm>
          <a:prstGeom prst="rect">
            <a:avLst/>
          </a:prstGeom>
          <a:solidFill>
            <a:srgbClr val="141B2D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b="1" sz="1400">
                <a:solidFill>
                  <a:srgbClr val="8B5CF6"/>
                </a:solidFill>
              </a:defRPr>
            </a:pPr>
            <a:r>
              <a:t>Zero-API Multilingual Voice Reader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</a:defRPr>
            </a:pPr>
            <a:r>
              <a:t>Narrates summaries and scripts in Hindi, Tamil, Telugu, Marathi, Bengali, and English utilizing native Web Speech API.</a:t>
            </a:r>
          </a:p>
          <a:p>
            <a:pPr>
              <a:spcBef>
                <a:spcPts val="800"/>
              </a:spcBef>
              <a:defRPr b="1" sz="1000">
                <a:solidFill>
                  <a:srgbClr val="10B981"/>
                </a:solidFill>
              </a:defRPr>
            </a:pPr>
            <a:r>
              <a:t>⚡ 0 API cost for localized speech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120640" cy="2103120"/>
          </a:xfrm>
          <a:prstGeom prst="rect">
            <a:avLst/>
          </a:prstGeom>
          <a:solidFill>
            <a:srgbClr val="141B2D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b="1" sz="1400">
                <a:solidFill>
                  <a:srgbClr val="8B5CF6"/>
                </a:solidFill>
              </a:defRPr>
            </a:pPr>
            <a:r>
              <a:t>The 'Agentic Skeptic' Engine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</a:defRPr>
            </a:pPr>
            <a:r>
              <a:t>Evaluates methodology rigor (1-10) and reports the paper's biggest weakness or bias in one clear sentence.</a:t>
            </a:r>
          </a:p>
          <a:p>
            <a:pPr>
              <a:spcBef>
                <a:spcPts val="800"/>
              </a:spcBef>
              <a:defRPr b="1" sz="1000">
                <a:solidFill>
                  <a:srgbClr val="10B981"/>
                </a:solidFill>
              </a:defRPr>
            </a:pPr>
            <a:r>
              <a:t>⚡ Real agentic analysis (not just summary)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5120640" cy="2103120"/>
          </a:xfrm>
          <a:prstGeom prst="rect">
            <a:avLst/>
          </a:prstGeom>
          <a:solidFill>
            <a:srgbClr val="141B2D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b="1" sz="1400">
                <a:solidFill>
                  <a:srgbClr val="8B5CF6"/>
                </a:solidFill>
              </a:defRPr>
            </a:pPr>
            <a:r>
              <a:t>Audio 'Paper-to-Podcast' Mode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</a:defRPr>
            </a:pPr>
            <a:r>
              <a:t>Generates a 2-person conversational script between a Host and Researcher explaining the paper.</a:t>
            </a:r>
          </a:p>
          <a:p>
            <a:pPr>
              <a:spcBef>
                <a:spcPts val="800"/>
              </a:spcBef>
              <a:defRPr b="1" sz="1000">
                <a:solidFill>
                  <a:srgbClr val="10B981"/>
                </a:solidFill>
              </a:defRPr>
            </a:pPr>
            <a:r>
              <a:t>⚡ Democratizes auditory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114800"/>
            <a:ext cx="5120640" cy="2103120"/>
          </a:xfrm>
          <a:prstGeom prst="rect">
            <a:avLst/>
          </a:prstGeom>
          <a:solidFill>
            <a:srgbClr val="141B2D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b="1" sz="1400">
                <a:solidFill>
                  <a:srgbClr val="8B5CF6"/>
                </a:solidFill>
              </a:defRPr>
            </a:pPr>
            <a:r>
              <a:t>Dynamic 'ELI5' Switcher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</a:defRPr>
            </a:pPr>
            <a:r>
              <a:t>Instantly switches complex academic brief summaries to simple real-world child analogies.</a:t>
            </a:r>
          </a:p>
          <a:p>
            <a:pPr>
              <a:spcBef>
                <a:spcPts val="800"/>
              </a:spcBef>
              <a:defRPr b="1" sz="1000">
                <a:solidFill>
                  <a:srgbClr val="10B981"/>
                </a:solidFill>
              </a:defRPr>
            </a:pPr>
            <a:r>
              <a:t>⚡ Extends usage to non-technical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TIER 3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Grounding, Citations &amp; Developer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41B2D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8B5CF6"/>
                </a:solidFill>
              </a:defRPr>
            </a:pPr>
            <a:r>
              <a:t>9. Interactive Citation-Highlighting PDF</a:t>
            </a:r>
          </a:p>
          <a:p>
            <a:pPr>
              <a:spcBef>
                <a:spcPts val="1500"/>
              </a:spcBef>
              <a:defRPr sz="1200">
                <a:solidFill>
                  <a:srgbClr val="F1F5F9"/>
                </a:solidFill>
              </a:defRPr>
            </a:pPr>
            <a:r>
              <a:t>Clicking any [1] citation link in the research brief dynamically updates the PDF iframe on the screen, scrolling and highlighting the exact line of the source PDF. This guarantees a zero-hallucination workflow and builds total trust.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120640" cy="4114800"/>
          </a:xfrm>
          <a:prstGeom prst="rect">
            <a:avLst/>
          </a:prstGeom>
          <a:solidFill>
            <a:srgbClr val="141B2D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8B5CF6"/>
                </a:solidFill>
              </a:defRPr>
            </a:pPr>
            <a:r>
              <a:t>10. One-Click Replication Deep-Linker</a:t>
            </a:r>
          </a:p>
          <a:p>
            <a:pPr>
              <a:spcBef>
                <a:spcPts val="1500"/>
              </a:spcBef>
              <a:defRPr sz="1200">
                <a:solidFill>
                  <a:srgbClr val="F1F5F9"/>
                </a:solidFill>
              </a:defRPr>
            </a:pPr>
            <a:r>
              <a:t>The agent extracts open-source libraries, neural models, algorithms, and datasets mentioned in the text. It automatically compiles direct GitHub repository code and Kaggle dataset query links, turning academic reading into immediate developer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HACKATHON PITCH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The Winning 3-Minute Finale Pitch Script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704088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0B981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0B981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0B981"/>
                          </a:solidFill>
                        </a:defRPr>
                      </a:pPr>
                      <a:r>
                        <a:t>PITCH ACTION &amp; NARRATIVE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0:00 - 0:40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8B5CF6"/>
                          </a:solidFill>
                        </a:defRPr>
                      </a:pPr>
                      <a:r>
                        <a:t>Problem &amp; Hook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Hook: 'Most AI research assistants burn through dozens of API calls, hallucinate, and exclude non-English speakers. We built PaperPilot specifically to solve this.'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0:40 - 1:20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8B5CF6"/>
                          </a:solidFill>
                        </a:defRPr>
                      </a:pPr>
                      <a:r>
                        <a:t>The Efficiency Proof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Upload PDF: 'Ingestion is 100% local (0 API calls). In a single-pass JSON call, our Master Agent fetches the Brief, 3D Flashcards, Concept Map, and Podcast dialogue.'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1:20 - 2:20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8B5CF6"/>
                          </a:solidFill>
                        </a:defRPr>
                      </a:pPr>
                      <a:r>
                        <a:t>The Innovation Flex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Click Skeptic Score &amp; TTS: 'PaperPilot critiques methodology rigor. And to democratize science, local browser SpeechSynthesis reads papers in Hindi or Tamil with 0 API costs.'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2:20 - 3:00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8B5CF6"/>
                          </a:solidFill>
                        </a:defRPr>
                      </a:pPr>
                      <a:r>
                        <a:t>The Mic Drop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Re-upload: 'Our SQLite Semantic Cache returns cached papers instantly. Maximum API efficiency, zero hallucinations, total localized accessibility.'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